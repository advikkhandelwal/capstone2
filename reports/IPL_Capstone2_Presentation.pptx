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Win Rate by Toss Decision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Field First</c:v>
                  </c:pt>
                  <c:pt idx="1">
                    <c:v>Bat First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53.86</c:v>
                </c:pt>
                <c:pt idx="1">
                  <c:v>45.38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3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Toss Decision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Toss Decision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Field First (64.3%)</c:v>
                </c:pt>
                <c:pt idx="1">
                  <c:v>Bat First (35.7%)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704</c:v>
                </c:pt>
                <c:pt idx="1">
                  <c:v>391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Win Rate % by Franchise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Punjab Kings</c:v>
                  </c:pt>
                  <c:pt idx="1">
                    <c:v>Delhi Capitals</c:v>
                  </c:pt>
                  <c:pt idx="2">
                    <c:v>Deccan Chargers</c:v>
                  </c:pt>
                  <c:pt idx="3">
                    <c:v>RCB</c:v>
                  </c:pt>
                  <c:pt idx="4">
                    <c:v>SRH</c:v>
                  </c:pt>
                  <c:pt idx="5">
                    <c:v>Rajasthan Royals</c:v>
                  </c:pt>
                  <c:pt idx="6">
                    <c:v>KKR</c:v>
                  </c:pt>
                  <c:pt idx="7">
                    <c:v>Mumbai Indians</c:v>
                  </c:pt>
                  <c:pt idx="8">
                    <c:v>CSK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45.53</c:v>
                </c:pt>
                <c:pt idx="1">
                  <c:v>45.63</c:v>
                </c:pt>
                <c:pt idx="2">
                  <c:v>38.67</c:v>
                </c:pt>
                <c:pt idx="3">
                  <c:v>48.24</c:v>
                </c:pt>
                <c:pt idx="4">
                  <c:v>48.35</c:v>
                </c:pt>
                <c:pt idx="5">
                  <c:v>50.68</c:v>
                </c:pt>
                <c:pt idx="6">
                  <c:v>52.19</c:v>
                </c:pt>
                <c:pt idx="7">
                  <c:v>55.17</c:v>
                </c:pt>
                <c:pt idx="8">
                  <c:v>57.98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E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3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1st Innings Avg</c:v>
                </c:pt>
              </c:strCache>
            </c:strRef>
          </c:tx>
          <c:spPr>
            <a:solidFill>
              <a:srgbClr val="1A2E4A"/>
            </a:solidFill>
            <a:ln w="31750" cap="flat">
              <a:solidFill>
                <a:srgbClr val="1A2E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2E4A"/>
              </a:solidFill>
              <a:ln w="9525" cap="flat">
                <a:solidFill>
                  <a:srgbClr val="1A2E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2008</c:v>
                  </c:pt>
                  <c:pt idx="1">
                    <c:v>2009</c:v>
                  </c:pt>
                  <c:pt idx="2">
                    <c:v>2010</c:v>
                  </c:pt>
                  <c:pt idx="3">
                    <c:v>2011</c:v>
                  </c:pt>
                  <c:pt idx="4">
                    <c:v>2012</c:v>
                  </c:pt>
                  <c:pt idx="5">
                    <c:v>2013</c:v>
                  </c:pt>
                  <c:pt idx="6">
                    <c:v>2014</c:v>
                  </c:pt>
                  <c:pt idx="7">
                    <c:v>2015</c:v>
                  </c:pt>
                  <c:pt idx="8">
                    <c:v>2016</c:v>
                  </c:pt>
                  <c:pt idx="9">
                    <c:v>2017</c:v>
                  </c:pt>
                  <c:pt idx="10">
                    <c:v>2018</c:v>
                  </c:pt>
                  <c:pt idx="11">
                    <c:v>2019</c:v>
                  </c:pt>
                  <c:pt idx="12">
                    <c:v>2021</c:v>
                  </c:pt>
                  <c:pt idx="13">
                    <c:v>2022</c:v>
                  </c:pt>
                  <c:pt idx="14">
                    <c:v>2023</c:v>
                  </c:pt>
                  <c:pt idx="15">
                    <c:v>2024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151.4</c:v>
                </c:pt>
                <c:pt idx="1">
                  <c:v>155.2</c:v>
                </c:pt>
                <c:pt idx="2">
                  <c:v>152.6</c:v>
                </c:pt>
                <c:pt idx="3">
                  <c:v>152</c:v>
                </c:pt>
                <c:pt idx="4">
                  <c:v>152.3</c:v>
                </c:pt>
                <c:pt idx="5">
                  <c:v>157.1</c:v>
                </c:pt>
                <c:pt idx="6">
                  <c:v>157.2</c:v>
                </c:pt>
                <c:pt idx="7">
                  <c:v>153.8</c:v>
                </c:pt>
                <c:pt idx="8">
                  <c:v>158.3</c:v>
                </c:pt>
                <c:pt idx="9">
                  <c:v>158.3</c:v>
                </c:pt>
                <c:pt idx="10">
                  <c:v>163.6</c:v>
                </c:pt>
                <c:pt idx="11">
                  <c:v>158.7</c:v>
                </c:pt>
                <c:pt idx="12">
                  <c:v>164.4</c:v>
                </c:pt>
                <c:pt idx="13">
                  <c:v>171.1</c:v>
                </c:pt>
                <c:pt idx="14">
                  <c:v>183.5</c:v>
                </c:pt>
                <c:pt idx="15">
                  <c:v>189.6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Innings Avg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2008</c:v>
                  </c:pt>
                  <c:pt idx="1">
                    <c:v>2009</c:v>
                  </c:pt>
                  <c:pt idx="2">
                    <c:v>2010</c:v>
                  </c:pt>
                  <c:pt idx="3">
                    <c:v>2011</c:v>
                  </c:pt>
                  <c:pt idx="4">
                    <c:v>2012</c:v>
                  </c:pt>
                  <c:pt idx="5">
                    <c:v>2013</c:v>
                  </c:pt>
                  <c:pt idx="6">
                    <c:v>2014</c:v>
                  </c:pt>
                  <c:pt idx="7">
                    <c:v>2015</c:v>
                  </c:pt>
                  <c:pt idx="8">
                    <c:v>2016</c:v>
                  </c:pt>
                  <c:pt idx="9">
                    <c:v>2017</c:v>
                  </c:pt>
                  <c:pt idx="10">
                    <c:v>2018</c:v>
                  </c:pt>
                  <c:pt idx="11">
                    <c:v>2019</c:v>
                  </c:pt>
                  <c:pt idx="12">
                    <c:v>2021</c:v>
                  </c:pt>
                  <c:pt idx="13">
                    <c:v>2022</c:v>
                  </c:pt>
                  <c:pt idx="14">
                    <c:v>2023</c:v>
                  </c:pt>
                  <c:pt idx="15">
                    <c:v>2024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140.5</c:v>
                </c:pt>
                <c:pt idx="1">
                  <c:v>143.7</c:v>
                </c:pt>
                <c:pt idx="2">
                  <c:v>141.2</c:v>
                </c:pt>
                <c:pt idx="3">
                  <c:v>139.8</c:v>
                </c:pt>
                <c:pt idx="4">
                  <c:v>140.5</c:v>
                </c:pt>
                <c:pt idx="5">
                  <c:v>145.2</c:v>
                </c:pt>
                <c:pt idx="6">
                  <c:v>144.3</c:v>
                </c:pt>
                <c:pt idx="7">
                  <c:v>141.9</c:v>
                </c:pt>
                <c:pt idx="8">
                  <c:v>146.2</c:v>
                </c:pt>
                <c:pt idx="9">
                  <c:v>146.8</c:v>
                </c:pt>
                <c:pt idx="10">
                  <c:v>151.1</c:v>
                </c:pt>
                <c:pt idx="11">
                  <c:v>146.5</c:v>
                </c:pt>
                <c:pt idx="12">
                  <c:v>152</c:v>
                </c:pt>
                <c:pt idx="13">
                  <c:v>158.5</c:v>
                </c:pt>
                <c:pt idx="14">
                  <c:v>166.7</c:v>
                </c:pt>
                <c:pt idx="15">
                  <c:v>176.2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1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Top 10 — Career IPL Runs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Career Runs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RG Sharma</c:v>
                  </c:pt>
                  <c:pt idx="1">
                    <c:v>SK Raina</c:v>
                  </c:pt>
                  <c:pt idx="2">
                    <c:v>DA Warner</c:v>
                  </c:pt>
                  <c:pt idx="3">
                    <c:v>AB de Villiers</c:v>
                  </c:pt>
                  <c:pt idx="4">
                    <c:v>KL Rahul</c:v>
                  </c:pt>
                  <c:pt idx="5">
                    <c:v>S Dhawan</c:v>
                  </c:pt>
                  <c:pt idx="6">
                    <c:v>MS Dhoni</c:v>
                  </c:pt>
                  <c:pt idx="7">
                    <c:v>CH Gayle</c:v>
                  </c:pt>
                  <c:pt idx="8">
                    <c:v>F du Plessis</c:v>
                  </c:pt>
                  <c:pt idx="9">
                    <c:v>V Kohli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6628</c:v>
                </c:pt>
                <c:pt idx="1">
                  <c:v>5528</c:v>
                </c:pt>
                <c:pt idx="2">
                  <c:v>5881</c:v>
                </c:pt>
                <c:pt idx="3">
                  <c:v>5162</c:v>
                </c:pt>
                <c:pt idx="4">
                  <c:v>4683</c:v>
                </c:pt>
                <c:pt idx="5">
                  <c:v>6769</c:v>
                </c:pt>
                <c:pt idx="6">
                  <c:v>5082</c:v>
                </c:pt>
                <c:pt idx="7">
                  <c:v>4965</c:v>
                </c:pt>
                <c:pt idx="8">
                  <c:v>3855</c:v>
                </c:pt>
                <c:pt idx="9">
                  <c:v>8014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2E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Top 10 — Career IPL Wickets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Career Wickets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 Ashwin</c:v>
                  </c:pt>
                  <c:pt idx="1">
                    <c:v>PP Chawla</c:v>
                  </c:pt>
                  <c:pt idx="2">
                    <c:v>SL Malinga</c:v>
                  </c:pt>
                  <c:pt idx="3">
                    <c:v>A Mishra</c:v>
                  </c:pt>
                  <c:pt idx="4">
                    <c:v>RA Jadeja</c:v>
                  </c:pt>
                  <c:pt idx="5">
                    <c:v>DJ Bravo</c:v>
                  </c:pt>
                  <c:pt idx="6">
                    <c:v>SP Narine</c:v>
                  </c:pt>
                  <c:pt idx="7">
                    <c:v>A Kumble</c:v>
                  </c:pt>
                  <c:pt idx="8">
                    <c:v>B Kumar</c:v>
                  </c:pt>
                  <c:pt idx="9">
                    <c:v>YS Chahal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180</c:v>
                </c:pt>
                <c:pt idx="1">
                  <c:v>156</c:v>
                </c:pt>
                <c:pt idx="2">
                  <c:v>170</c:v>
                </c:pt>
                <c:pt idx="3">
                  <c:v>166</c:v>
                </c:pt>
                <c:pt idx="4">
                  <c:v>120</c:v>
                </c:pt>
                <c:pt idx="5">
                  <c:v>183</c:v>
                </c:pt>
                <c:pt idx="6">
                  <c:v>200</c:v>
                </c:pt>
                <c:pt idx="7">
                  <c:v>49</c:v>
                </c:pt>
                <c:pt idx="8">
                  <c:v>145</c:v>
                </c:pt>
                <c:pt idx="9">
                  <c:v>213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2E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Average Runs per Delivery by Phase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Runs/Ball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Powerplay
(Overs 1-6)</c:v>
                  </c:pt>
                  <c:pt idx="1">
                    <c:v>Middle
(Overs 7-15)</c:v>
                  </c:pt>
                  <c:pt idx="2">
                    <c:v>Death
(Overs 16-20)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1.26</c:v>
                </c:pt>
                <c:pt idx="1">
                  <c:v>1.184</c:v>
                </c:pt>
                <c:pt idx="2">
                  <c:v>1.579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7"/>
          <c:min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Boundary % by Phase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Boundary %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Powerplay</c:v>
                  </c:pt>
                  <c:pt idx="1">
                    <c:v>Middle</c:v>
                  </c:pt>
                  <c:pt idx="2">
                    <c:v>Death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18.91</c:v>
                </c:pt>
                <c:pt idx="1">
                  <c:v>13.3</c:v>
                </c:pt>
                <c:pt idx="2">
                  <c:v>19.35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548640"/>
            <a:ext cx="2286000" cy="2286000"/>
          </a:xfrm>
          <a:prstGeom prst="ellipse">
            <a:avLst/>
          </a:prstGeom>
          <a:solidFill>
            <a:srgbClr val="DC2626">
              <a:alpha val="20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029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the Winning Formula in Indian Premier League Cricket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2  •  Data Visualization &amp; Analytics Program  •  April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1920240" cy="91440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76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3749040"/>
            <a:ext cx="1920240" cy="91440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3776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260,920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0604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749040"/>
            <a:ext cx="1920240" cy="91440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776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916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3749040"/>
            <a:ext cx="1920240" cy="91440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3776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1228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 Analytics  |  Capstone 2  |  Data Analytics Program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50292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Context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35331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IPL data analytics matters for franchise strategy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709928"/>
            <a:ext cx="84124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709928"/>
            <a:ext cx="50292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013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ETL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0116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cleaning, and transformation methodology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368296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368296"/>
            <a:ext cx="50292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4597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2414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67004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seasons of trends, teams, players, and phases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026664"/>
            <a:ext cx="84124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026664"/>
            <a:ext cx="50292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1810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072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32841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— chi-square, t-test, correlation, regression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685032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685032"/>
            <a:ext cx="50292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764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Dashboard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398678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and interactive Tableau visualisations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343400"/>
            <a:ext cx="50292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434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" y="464515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data-backed recommendations for franchise management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 — Indian Premier League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 Analytics  |  Capstone 2  |  Data Analytics Program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841248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05840"/>
            <a:ext cx="9144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515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strategic, player, and situational factors most significantly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match outcomes in IPL — and how can franchises use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insights to build winning teams and game plans?"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Sub-Questions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85292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9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winning the toss provide a statistically significant advantage?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324612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821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match phase (powerplay / middle / death) is most decisive?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63931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753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IPL scoring evolved across 17 seasons?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40325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96849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consistently outperform relative to resources?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442569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3616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elite vs average batters and bowlers?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ETL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cleaning — 9 documented transformations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 Analytics  |  Capstone 2  |  Data Analytics Program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3291840" cy="3794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508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" y="17373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IPL Complete Dataset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8912" y="1965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" y="21945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– 2024 (17 seasons)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" y="2423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matches.csv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1,095 rows × 20 cols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8912" y="2880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deliveries.csv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8912" y="31089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260,920 rows × 17 cols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8912" y="3337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(matches)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8912" y="35661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City: 51 | Method: 1,074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912" y="3794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(deliveries)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8912" y="40233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extras_type: 246,795 (nulls = 'none')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8912" y="4251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8912" y="44805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tabular row-level CSV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49040" y="10058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Transformation Log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49040" y="1417320"/>
            <a:ext cx="512064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417320"/>
            <a:ext cx="347472" cy="338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1463040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60520" y="14356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standardisation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60520" y="160020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2007/08 → 2008, etc.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749040" y="1801368"/>
            <a:ext cx="5120640" cy="33832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9040" y="1801368"/>
            <a:ext cx="347472" cy="338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184708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60520" y="18196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60520" y="1984248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→ datetime64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749040" y="2185416"/>
            <a:ext cx="512064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49040" y="2185416"/>
            <a:ext cx="347472" cy="338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223113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160520" y="22037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imputation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60520" y="2368296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lookup dictionary (0 nulls remaining)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749040" y="2569464"/>
            <a:ext cx="5120640" cy="33832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0" y="2569464"/>
            <a:ext cx="347472" cy="338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0" y="261518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160520" y="25877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standardisation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60520" y="2752344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franchise renames across 6 columns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749040" y="2953512"/>
            <a:ext cx="512064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49040" y="2953512"/>
            <a:ext cx="347472" cy="338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49040" y="299923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160520" y="29718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toss_win_match flag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60520" y="3136392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toss_winner == winner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749040" y="3337560"/>
            <a:ext cx="5120640" cy="33832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49040" y="3337560"/>
            <a:ext cx="347472" cy="338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0" y="3383280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160520" y="33558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fill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60520" y="352044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→ 'Normal' (DLS for 21 matches)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749040" y="3721608"/>
            <a:ext cx="512064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49040" y="3721608"/>
            <a:ext cx="347472" cy="338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49040" y="376732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160520" y="3739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semantic fill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160520" y="3904488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extras_type, dismissal cols → descriptive nulls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749040" y="4105656"/>
            <a:ext cx="5120640" cy="33832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749040" y="4105656"/>
            <a:ext cx="347472" cy="338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49040" y="415137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160520" y="41239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derivation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60520" y="4288536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→ Powerplay / Middle / Death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749040" y="4489704"/>
            <a:ext cx="512064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49040" y="4489704"/>
            <a:ext cx="347472" cy="338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49040" y="453542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160520" y="45079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Super-over flag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160520" y="4672584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is_super_over_match binary column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at a Glance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seasons · 1,095 matches · 260,920 deliveries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 Analytics  |  Capstone 2  |  Data Analytics Program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011680" cy="16002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143000"/>
            <a:ext cx="18288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193167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Indians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2997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wins ever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051560"/>
            <a:ext cx="2011680" cy="16002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1143000"/>
            <a:ext cx="18288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57.98%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0" y="193167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CSK Win Rate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60320" y="22997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(200+ matches)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2011680" cy="16002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143000"/>
            <a:ext cx="18288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8,014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193167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Kohli Runs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22997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leading scorer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051560"/>
            <a:ext cx="2011680" cy="16002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0" y="1143000"/>
            <a:ext cx="18288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58000" y="193167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YS Chahal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2997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leading wicket-taker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2880360"/>
            <a:ext cx="2011680" cy="16002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2971800"/>
            <a:ext cx="18288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189.6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11480" y="376047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Avg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Inn Score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41285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higher than 2008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68880" y="2880360"/>
            <a:ext cx="2011680" cy="16002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60320" y="2971800"/>
            <a:ext cx="18288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62.2%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2560320" y="376047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Titans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60320" y="41285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active franchise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17720" y="2880360"/>
            <a:ext cx="2011680" cy="16002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9160" y="2971800"/>
            <a:ext cx="18288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53.9%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709160" y="376047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Field-First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09160" y="41285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45.4% bat-first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766560" y="2880360"/>
            <a:ext cx="2011680" cy="16002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58000" y="2971800"/>
            <a:ext cx="18288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1.579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858000" y="3760470"/>
            <a:ext cx="1828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Runs/Ball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Overs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0" y="41285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scoring phase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Analysis — The Field-First Advantage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confirms statistical significance (p = 0.009)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 Analytics  |  Capstone 2  |  Data Analytics Program  |  April 2026</a:t>
            </a:r>
            <a:endParaRPr lang="en-US" sz="7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4754880" y="100584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5811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p=0.009 → Reject H0: Toss decision significantly influences match outcome. Teams choosing to field win 8.5pp more often.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— Win Rates &amp; Total Wins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franchises ranked by win rate (minimum 50 matches played)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 Analytics  |  Capstone 2  |  Data Analytics Program  |  April 2026</a:t>
            </a:r>
            <a:endParaRPr lang="en-US" sz="7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005840"/>
          <a:ext cx="53035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806440" y="1051560"/>
            <a:ext cx="3017520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105156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Indians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89320" y="1344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Wins · 55.2%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89320" y="1581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wins in IPL history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06440" y="1993392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06440" y="1993392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2039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Super Kings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8932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Wins · 58.0%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89320" y="2523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win rate (200+ matches)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06440" y="2935224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06440" y="2935224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2980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Titans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89320" y="3227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Wins · 62.2%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89320" y="34655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rate — new franchise efficiency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806440" y="3877056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06440" y="3877056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3922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89320" y="41696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Wins · 52.2%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89320" y="4407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top-4 performers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Scoring Evolution (2008–2024)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1st innings score has grown 25% over 17 seasons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 Analytics  |  Capstone 2  |  Data Analytics Program  |  April 2026</a:t>
            </a:r>
            <a:endParaRPr lang="en-US" sz="7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005840"/>
          <a:ext cx="8503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4572000"/>
            <a:ext cx="2651760" cy="2468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4590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Avg: 151.4 runs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4572000"/>
            <a:ext cx="2926080" cy="246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4590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Avg: 189.6 runs  (+25.3%)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46520" y="4572000"/>
            <a:ext cx="237744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4590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= new era advantage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Analysis — Batting &amp; Bowling Leaders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statistics across all IPL seasons 2008–2024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 Analytics  |  Capstone 2  |  Data Analytics Program  |  April 2026</a:t>
            </a:r>
            <a:endParaRPr lang="en-US" sz="7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00584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4663440" y="1005840"/>
          <a:ext cx="4160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4572000"/>
            <a:ext cx="850392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5902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Kohli: 8,014 runs — first batter to 8,000 in IPL history   |   YS Chahal: 213 wickets — all-time leading wicket-taker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Phase Analysis — Powerplay, Middle &amp; Death Overs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overs generate 25% more runs per ball than middle overs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 Analytics  |  Capstone 2  |  Data Analytics Program  |  April 2026</a:t>
            </a:r>
            <a:endParaRPr lang="en-US" sz="7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00584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5303520" y="1005840"/>
          <a:ext cx="3520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4206240"/>
            <a:ext cx="2788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42245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 (1-6)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11480" y="44165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restrictions create boundary opportunities. Teams trade wicket risk for acceleration. SR &gt; 120 expected.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3200400" y="4206240"/>
            <a:ext cx="278892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91840" y="42245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(7-15)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291840" y="44165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phase. Spinners dominate. Wickets here prevent death-over damage. Run rate dips to 7.1/over.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6080760" y="4206240"/>
            <a:ext cx="278892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72200" y="42245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(16-20)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172200" y="44165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intensity. Finishers with SR 150+ are match-defining. 1.58 runs/ball average in 2024.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Results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— 5 tests applied to IPL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 Analytics  |  Capstone 2  |  Data Analytics Program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05840"/>
            <a:ext cx="73152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607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35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decision vs match outcome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77840" y="1115568"/>
            <a:ext cx="3154680" cy="438912"/>
          </a:xfrm>
          <a:prstGeom prst="rect">
            <a:avLst/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11556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0.009 ✓ SIGNIFICANT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755648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55648"/>
            <a:ext cx="73152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10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0848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 runs — winner vs loser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77840" y="1865376"/>
            <a:ext cx="3154680" cy="43891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186537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0.539 ✗ NOT significant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505456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505456"/>
            <a:ext cx="73152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560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28346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innings score vs win margin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77840" y="2615184"/>
            <a:ext cx="3154680" cy="438912"/>
          </a:xfrm>
          <a:prstGeom prst="rect">
            <a:avLst/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61518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0.37, p &lt; 0.001 ✓ SIGNIFICANT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255264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255264"/>
            <a:ext cx="73152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3101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58444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differences across top 8 venues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77840" y="3364992"/>
            <a:ext cx="3154680" cy="43891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3649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1.09, p = 0.366 ✗ NOT significant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005072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005072"/>
            <a:ext cx="73152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59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3342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innings score → win margin (runs)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77840" y="4114800"/>
            <a:ext cx="3154680" cy="438912"/>
          </a:xfrm>
          <a:prstGeom prst="rect">
            <a:avLst/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41148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0.34, R² = 0.13, p &lt; 0.001 ✓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503920" cy="640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Data-Backed Business Recommendations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for franchise management and team strategy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 Analytics  |  Capstone 2  |  Data Analytics Program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05840"/>
            <a:ext cx="50292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704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0607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First as Default Toss Strategy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133502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p=0.009 confirms fielding after toss win gives 8.5pp advantage. Codify as team policy.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0" y="1115568"/>
            <a:ext cx="233172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115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+4–6% win probability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783080"/>
            <a:ext cx="850392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783080"/>
            <a:ext cx="50292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9476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18379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Auction Budget in Death-Over Specialists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0120" y="211226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overs produce 1.58 runs/ball. Target finishers with SR&gt;160 and death bowlers with economy&lt;9.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0" y="1892808"/>
            <a:ext cx="233172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8928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+15–20 runs per match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560320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560320"/>
            <a:ext cx="50292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7249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26151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185-Run Minimum Viable Target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28895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avg = 189.6. Regression: every 10 extra runs adds 3.4 runs to win margin. Reframe batting KPIs.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00800" y="2670048"/>
            <a:ext cx="233172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26700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58%+ win rate defending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337560"/>
            <a:ext cx="850392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337560"/>
            <a:ext cx="50292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5021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33924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Economy Spinners for Middle Overs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0120" y="36667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overs lowest boundary %. Narine (6.76 eco), Muralitharan (6.70) show economy+wickets coexist.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0" y="3447288"/>
            <a:ext cx="233172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4472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to 100–110 overs 7-15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114800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114800"/>
            <a:ext cx="50292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793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4169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Analytics-Driven Role Taxonomy (GT Model)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60120" y="444398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Titans 62.2% win rate proves analytical squad building outperforms legacy investment patterns.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4224528"/>
            <a:ext cx="233172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42245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team win rate vs peers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— Interactive Analytics Hub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 Tableau Public with 4 interactive views and season/team filters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 Analytics  |  Capstone 2  |  Data Analytics Program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8503920" cy="2286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4023360" cy="749808"/>
          </a:xfrm>
          <a:prstGeom prst="rect">
            <a:avLst/>
          </a:prstGeom>
          <a:solidFill>
            <a:srgbClr val="0D1B2E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08760"/>
            <a:ext cx="36576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099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15636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Hub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18379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rates, toss advantage, season performance by franchise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9160" y="1508760"/>
            <a:ext cx="4023360" cy="749808"/>
          </a:xfrm>
          <a:prstGeom prst="rect">
            <a:avLst/>
          </a:prstGeom>
          <a:solidFill>
            <a:srgbClr val="0D1B2E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508760"/>
            <a:ext cx="36576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7099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4648" y="15636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Leaderboard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84648" y="18379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runs, strike rates, wickets, economy — filterable by season and team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4023360" cy="749808"/>
          </a:xfrm>
          <a:prstGeom prst="rect">
            <a:avLst/>
          </a:prstGeom>
          <a:solidFill>
            <a:srgbClr val="0D1B2E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377440"/>
            <a:ext cx="36576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786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24323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Analysis Board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" y="27066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rate and wicket density by Powerplay / Middle / Death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09160" y="2377440"/>
            <a:ext cx="4023360" cy="749808"/>
          </a:xfrm>
          <a:prstGeom prst="rect">
            <a:avLst/>
          </a:prstGeom>
          <a:solidFill>
            <a:srgbClr val="0D1B2E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377440"/>
            <a:ext cx="36576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5786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84648" y="24323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Evolution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84648" y="27066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17-season trend, YoY first-innings vs second-innings comparison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401568"/>
            <a:ext cx="8503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381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URL: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6393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https://public.tableau.com/views/IPL_Performance_Analytics_Capstone2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005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3159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4297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Season Filter (2008–2024)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0" y="43159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98064" y="4297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Filter (all 15 franchises)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43159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4297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Filter (Powerplay / Middle / Death)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66560" y="43159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04304" y="4297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KPI cards update on selection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Key Insights — Decision Language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Data-to-decision translation for franchise management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 Analytics  |  Capstone 2  |  Data Analytics Program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05840"/>
            <a:ext cx="292608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7043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097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after winning the toss — 8.5pp win rate advantage, statistically proven (p=0.009)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05840"/>
            <a:ext cx="292608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7043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38928" y="1097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overs are THE decisive phase — 1.58 runs/ball, highest boundary rate (19.35%)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1755648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755648"/>
            <a:ext cx="292608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2024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" y="18470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 runs ≠ wins — T-test p=0.54: wicket preservation matters more than early scoring rate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1755648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755648"/>
            <a:ext cx="292608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92024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38928" y="18470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innings score correlates with win margin (r=0.37) — every 10 extra runs = +3.4 run advantage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505456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505456"/>
            <a:ext cx="292608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67004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25968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185+ is the new par score — 2024 average 1st innings reached 189.6, up 25% from 2008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2505456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505456"/>
            <a:ext cx="2926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67004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38928" y="25968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Sixes drive totals — six-hitting correlates at r=0.81 with total runs; invest in power hitters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255264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255264"/>
            <a:ext cx="2926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419856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" y="33467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+ CSK hold 25% of all IPL wins — consistent structures compound advantage over time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3255264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255264"/>
            <a:ext cx="2926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419856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38928" y="33467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Titans' 62.2% win rate proves analytical squad building beats legacy spending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400507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005072"/>
            <a:ext cx="2926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169664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4088" y="4096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spinners dominate middle overs — Narine (6.76 eco) shows containment + wickets coexist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400507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4005072"/>
            <a:ext cx="2926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169664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38928" y="4096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dismissals = 50%+ of all wickets — fielding structure at boundary and slips is match-winning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19659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Performance Analytics — Capstone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Analytics Program  •  April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1828800" cy="100584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584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Analysed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0" y="3017520"/>
            <a:ext cx="1828800" cy="100584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260,920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88920" y="3584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Processed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1828800" cy="100584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00600" y="3584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6560" y="3017520"/>
            <a:ext cx="1828800" cy="100584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12280" y="3584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github.com/team/IPL_Capstone_Analytics  |  Dashboard: public.tableau.com/IPL_Performance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Viva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Performance Analytics — Capstone 2</dc:title>
  <dc:subject>PptxGenJS Presentation</dc:subject>
  <dc:creator>Data Analytics Team</dc:creator>
  <cp:lastModifiedBy>Data Analytics Team</cp:lastModifiedBy>
  <cp:revision>1</cp:revision>
  <dcterms:created xsi:type="dcterms:W3CDTF">2026-04-21T05:29:57Z</dcterms:created>
  <dcterms:modified xsi:type="dcterms:W3CDTF">2026-04-21T05:29:57Z</dcterms:modified>
</cp:coreProperties>
</file>